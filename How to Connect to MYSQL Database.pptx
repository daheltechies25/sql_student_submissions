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" r:id="rId5"/>
    <p:sldId id="262" r:id="rId6"/>
    <p:sldId id="257" r:id="rId7"/>
    <p:sldId id="264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57"/>
            <p14:sldId id="264"/>
          </p14:sldIdLst>
        </p14:section>
        <p14:section name="Learn More" id="{2CC34DB2-6590-42C0-AD4B-A04C6060184E}">
          <p14:sldIdLst>
            <p14:sldId id="263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80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14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08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7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45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1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103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103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103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103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103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103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v.mysql.com/do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709530"/>
            <a:ext cx="11569148" cy="6639339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 </a:t>
            </a:r>
            <a:r>
              <a:rPr lang="en-US" b="1" dirty="0">
                <a:latin typeface="Arial Black" panose="020B0A04020102020204" pitchFamily="34" charset="0"/>
              </a:rPr>
              <a:t>How to </a:t>
            </a:r>
            <a:r>
              <a:rPr lang="en-US" b="1" dirty="0" smtClean="0">
                <a:latin typeface="Arial Black" panose="020B0A04020102020204" pitchFamily="34" charset="0"/>
              </a:rPr>
              <a:t>Connect to MYSQL Database using MYSQL WORKBENCH.</a:t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smtClean="0">
                <a:latin typeface="Arial Black" panose="020B0A04020102020204" pitchFamily="34" charset="0"/>
              </a:rPr>
              <a:t> Name</a:t>
            </a:r>
            <a:r>
              <a:rPr lang="en-US" b="1" dirty="0">
                <a:latin typeface="Arial Black" panose="020B0A04020102020204" pitchFamily="34" charset="0"/>
              </a:rPr>
              <a:t>: </a:t>
            </a:r>
            <a:r>
              <a:rPr lang="en-US" b="1" dirty="0" smtClean="0">
                <a:latin typeface="Arial Black" panose="020B0A04020102020204" pitchFamily="34" charset="0"/>
              </a:rPr>
              <a:t>Lilian </a:t>
            </a:r>
            <a:r>
              <a:rPr lang="en-US" b="1" dirty="0" err="1" smtClean="0">
                <a:latin typeface="Arial Black" panose="020B0A04020102020204" pitchFamily="34" charset="0"/>
              </a:rPr>
              <a:t>Eberechukwu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Kalu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Cheche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83" y="1825624"/>
            <a:ext cx="11330608" cy="4447761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What is MySQL?</a:t>
            </a:r>
          </a:p>
          <a:p>
            <a:pPr marL="742950" lvl="1" indent="-285750"/>
            <a:r>
              <a:rPr lang="en-US" sz="2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Structured Query Language</a:t>
            </a:r>
          </a:p>
          <a:p>
            <a:pPr marL="742950" lvl="1" indent="-285750"/>
            <a:r>
              <a:rPr lang="en-US" sz="2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Stores and manages structured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Why connect to MySQL?</a:t>
            </a:r>
          </a:p>
          <a:p>
            <a:pPr marL="742950" lvl="1" indent="-285750"/>
            <a:r>
              <a:rPr lang="en-US" sz="2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To retrieve, manipulate, and store data in applications</a:t>
            </a:r>
          </a:p>
          <a:p>
            <a:pPr marL="742950" lvl="1" indent="-285750"/>
            <a:r>
              <a:rPr lang="en-US" sz="2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Supports </a:t>
            </a: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</a:rPr>
              <a:t>data analysis and reporting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19" y="1948195"/>
            <a:ext cx="10690482" cy="443375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.</a:t>
            </a:r>
            <a:r>
              <a:rPr lang="en-US" sz="28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MySQL </a:t>
            </a:r>
            <a:r>
              <a:rPr lang="en-US" sz="2800" b="1" dirty="0">
                <a:solidFill>
                  <a:schemeClr val="tx1"/>
                </a:solidFill>
                <a:latin typeface="Arial Black" panose="020B0A04020102020204" pitchFamily="34" charset="0"/>
              </a:rPr>
              <a:t>installed on your computer or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Arial Black" panose="020B0A04020102020204" pitchFamily="34" charset="0"/>
              </a:rPr>
              <a:t>MySQL Workbench installed (or any client like </a:t>
            </a:r>
            <a:r>
              <a:rPr lang="en-US" sz="2800" b="1" dirty="0" err="1">
                <a:solidFill>
                  <a:schemeClr val="tx1"/>
                </a:solidFill>
                <a:latin typeface="Arial Black" panose="020B0A04020102020204" pitchFamily="34" charset="0"/>
              </a:rPr>
              <a:t>phpMyAdmin</a:t>
            </a:r>
            <a:r>
              <a:rPr lang="en-US" sz="2800" b="1" dirty="0">
                <a:solidFill>
                  <a:schemeClr val="tx1"/>
                </a:solidFill>
                <a:latin typeface="Arial Black" panose="020B0A040201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Arial Black" panose="020B0A04020102020204" pitchFamily="34" charset="0"/>
              </a:rPr>
              <a:t>User credentials (username, password, host, port)</a:t>
            </a:r>
          </a:p>
          <a:p>
            <a:endParaRPr lang="en-US" sz="2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Connect MySQL Database (Using MySQL Workbench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2185" y="1720839"/>
            <a:ext cx="1054873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 Black" panose="020B0A04020102020204" pitchFamily="34" charset="0"/>
              </a:rPr>
              <a:t>Open </a:t>
            </a:r>
            <a:r>
              <a:rPr lang="en-US" b="1" dirty="0">
                <a:latin typeface="Arial Black" panose="020B0A04020102020204" pitchFamily="34" charset="0"/>
              </a:rPr>
              <a:t>MySQL </a:t>
            </a:r>
            <a:r>
              <a:rPr lang="en-US" b="1" dirty="0" smtClean="0">
                <a:latin typeface="Arial Black" panose="020B0A04020102020204" pitchFamily="34" charset="0"/>
              </a:rPr>
              <a:t>Workbench</a:t>
            </a:r>
          </a:p>
          <a:p>
            <a:endParaRPr lang="en-US" b="1" dirty="0"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Click "+" to add a new </a:t>
            </a:r>
            <a:r>
              <a:rPr lang="en-US" b="1" dirty="0" smtClean="0">
                <a:latin typeface="Arial Black" panose="020B0A04020102020204" pitchFamily="34" charset="0"/>
              </a:rPr>
              <a:t>connection</a:t>
            </a:r>
          </a:p>
          <a:p>
            <a:pPr>
              <a:buFont typeface="+mj-lt"/>
              <a:buAutoNum type="arabicPeriod"/>
            </a:pPr>
            <a:endParaRPr lang="en-US" b="1" dirty="0"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Fill in connection details: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 smtClean="0">
                <a:latin typeface="Arial Black" panose="020B0A04020102020204" pitchFamily="34" charset="0"/>
              </a:rPr>
              <a:t>Connection Name</a:t>
            </a:r>
            <a:r>
              <a:rPr lang="en-US" b="1" dirty="0">
                <a:latin typeface="Arial Black" panose="020B0A04020102020204" pitchFamily="34" charset="0"/>
              </a:rPr>
              <a:t>: e.g., Local MySQL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Hostname: localhost (or server IP)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Port: 3306 (default)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Username: root (or your user)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Password: your MySQL </a:t>
            </a:r>
            <a:r>
              <a:rPr lang="en-US" b="1" dirty="0" smtClean="0">
                <a:latin typeface="Arial Black" panose="020B0A04020102020204" pitchFamily="34" charset="0"/>
              </a:rPr>
              <a:t>password</a:t>
            </a:r>
          </a:p>
          <a:p>
            <a:pPr marL="742950" lvl="1" indent="-285750">
              <a:buFont typeface="+mj-lt"/>
              <a:buAutoNum type="arabicPeriod"/>
            </a:pPr>
            <a:endParaRPr lang="en-US" b="1" dirty="0"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Click "Test Connection" to check </a:t>
            </a:r>
            <a:r>
              <a:rPr lang="en-US" b="1" dirty="0" smtClean="0">
                <a:latin typeface="Arial Black" panose="020B0A04020102020204" pitchFamily="34" charset="0"/>
              </a:rPr>
              <a:t>connectivity</a:t>
            </a:r>
          </a:p>
          <a:p>
            <a:pPr>
              <a:buFont typeface="+mj-lt"/>
              <a:buAutoNum type="arabicPeriod"/>
            </a:pPr>
            <a:endParaRPr lang="en-US" b="1" dirty="0"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Click "OK" to save connection</a:t>
            </a:r>
          </a:p>
        </p:txBody>
      </p:sp>
    </p:spTree>
    <p:extLst>
      <p:ext uri="{BB962C8B-B14F-4D97-AF65-F5344CB8AC3E}">
        <p14:creationId xmlns:p14="http://schemas.microsoft.com/office/powerpoint/2010/main" val="153153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75" y="2402238"/>
            <a:ext cx="5048742" cy="2187227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4000" dirty="0"/>
              <a:t>Connecting Using SQL Command 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e 5: Connecting Using SQL Command 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Open terminal / command prompt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Command to connect: </a:t>
            </a:r>
            <a:r>
              <a:rPr lang="en-US" sz="2400" dirty="0" err="1"/>
              <a:t>mysql</a:t>
            </a:r>
            <a:r>
              <a:rPr lang="en-US" sz="2400" dirty="0"/>
              <a:t> -u username -p -h hostname -P 3306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Enter password when prompted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dirty="0" err="1"/>
              <a:t>mysql</a:t>
            </a:r>
            <a:r>
              <a:rPr lang="en-US" sz="2400" dirty="0"/>
              <a:t> -u root -p -h localhost -P </a:t>
            </a:r>
            <a:r>
              <a:rPr lang="en-US" sz="2400" dirty="0" smtClean="0"/>
              <a:t>3306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8" name="Freeform 7">
            <a:hlinkClick r:id="rId3" tooltip="Learn More"/>
          </p:cNvPr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hlinkClick r:id="rId3" tooltip="Learn More"/>
          </p:cNvPr>
          <p:cNvSpPr txBox="1">
            <a:spLocks/>
          </p:cNvSpPr>
          <p:nvPr/>
        </p:nvSpPr>
        <p:spPr>
          <a:xfrm>
            <a:off x="2897188" y="5844663"/>
            <a:ext cx="8659850" cy="9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 dirty="0">
              <a:solidFill>
                <a:srgbClr val="DD462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D24726">
                    <a:alpha val="37000"/>
                  </a:srgbClr>
                </a:solidFill>
              </a:rPr>
              <a:t>(Click the arrow when in Slide Show mode)</a:t>
            </a:r>
          </a:p>
          <a:p>
            <a:endParaRPr lang="en-US" sz="1200" dirty="0">
              <a:solidFill>
                <a:srgbClr val="D24726">
                  <a:alpha val="37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75" y="2402238"/>
            <a:ext cx="5048742" cy="2187227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4000" dirty="0"/>
              <a:t>Selecting a Database</a:t>
            </a:r>
          </a:p>
        </p:txBody>
      </p:sp>
      <p:sp>
        <p:nvSpPr>
          <p:cNvPr id="8" name="Freeform 7">
            <a:hlinkClick r:id="rId3" tooltip="Learn More"/>
          </p:cNvPr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hlinkClick r:id="rId3" tooltip="Learn More"/>
          </p:cNvPr>
          <p:cNvSpPr txBox="1">
            <a:spLocks/>
          </p:cNvSpPr>
          <p:nvPr/>
        </p:nvSpPr>
        <p:spPr>
          <a:xfrm>
            <a:off x="2897188" y="5844663"/>
            <a:ext cx="8659850" cy="9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 dirty="0">
              <a:solidFill>
                <a:srgbClr val="DD462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D24726">
                    <a:alpha val="37000"/>
                  </a:srgbClr>
                </a:solidFill>
              </a:rPr>
              <a:t>(Click the arrow when in Slide Show mode)</a:t>
            </a:r>
          </a:p>
          <a:p>
            <a:endParaRPr lang="en-US" sz="1200" dirty="0">
              <a:solidFill>
                <a:srgbClr val="D24726">
                  <a:alpha val="37000"/>
                </a:srgbClr>
              </a:solidFill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25932" y="1795823"/>
            <a:ext cx="606286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After connecting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, click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on local instance, you will see query 1.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select your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database:create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database, e.g.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lang="en-US" altLang="en-US" sz="20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Create database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school_db</a:t>
            </a:r>
            <a:r>
              <a:rPr lang="en-US" altLang="en-US" sz="20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. Then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excute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To check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database you created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USE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student;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Verify connection: SELECT DATABASE();</a:t>
            </a:r>
          </a:p>
        </p:txBody>
      </p:sp>
    </p:spTree>
    <p:extLst>
      <p:ext uri="{BB962C8B-B14F-4D97-AF65-F5344CB8AC3E}">
        <p14:creationId xmlns:p14="http://schemas.microsoft.com/office/powerpoint/2010/main" val="28109037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75" y="2402238"/>
            <a:ext cx="5048742" cy="2187227"/>
          </a:xfrm>
        </p:spPr>
        <p:txBody>
          <a:bodyPr/>
          <a:lstStyle/>
          <a:p>
            <a:r>
              <a:rPr lang="en-US" sz="4000" dirty="0"/>
              <a:t>Common Issues</a:t>
            </a:r>
          </a:p>
        </p:txBody>
      </p:sp>
      <p:sp>
        <p:nvSpPr>
          <p:cNvPr id="8" name="Freeform 7">
            <a:hlinkClick r:id="rId3" tooltip="Learn More"/>
          </p:cNvPr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hlinkClick r:id="rId3" tooltip="Learn More"/>
          </p:cNvPr>
          <p:cNvSpPr txBox="1">
            <a:spLocks/>
          </p:cNvSpPr>
          <p:nvPr/>
        </p:nvSpPr>
        <p:spPr>
          <a:xfrm>
            <a:off x="2897188" y="5844663"/>
            <a:ext cx="8659850" cy="9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 dirty="0">
              <a:solidFill>
                <a:srgbClr val="DD462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D24726">
                    <a:alpha val="37000"/>
                  </a:srgbClr>
                </a:solidFill>
              </a:rPr>
              <a:t>(Click the arrow when in Slide Show mode)</a:t>
            </a:r>
          </a:p>
          <a:p>
            <a:endParaRPr lang="en-US" sz="1200" dirty="0">
              <a:solidFill>
                <a:srgbClr val="D24726">
                  <a:alpha val="37000"/>
                </a:srgbClr>
              </a:solidFill>
            </a:endParaRP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23723" y="2281141"/>
            <a:ext cx="606507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"Access denied" → Wrong username/password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"Unknown host" → Wrong hostname or 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not selected → Use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database_name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236192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75" y="2402238"/>
            <a:ext cx="5048742" cy="2187227"/>
          </a:xfrm>
        </p:spPr>
        <p:txBody>
          <a:bodyPr/>
          <a:lstStyle/>
          <a:p>
            <a:r>
              <a:rPr lang="en-US" sz="4000" dirty="0"/>
              <a:t>Demo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9295" y="2645902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Screenshot placeholders:</a:t>
            </a:r>
          </a:p>
          <a:p>
            <a:r>
              <a:rPr lang="en-US" sz="2400" dirty="0"/>
              <a:t>MySQL Workbench login screen</a:t>
            </a:r>
          </a:p>
          <a:p>
            <a:r>
              <a:rPr lang="en-US" sz="2400" dirty="0"/>
              <a:t>Connection test success</a:t>
            </a:r>
          </a:p>
          <a:p>
            <a:r>
              <a:rPr lang="en-US" sz="2400" dirty="0"/>
              <a:t>Selected database</a:t>
            </a:r>
          </a:p>
          <a:p>
            <a:r>
              <a:rPr lang="en-US" sz="2400" dirty="0"/>
              <a:t>Running a simple query: SELECT * FROM students;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8" name="Freeform 7">
            <a:hlinkClick r:id="rId3" tooltip="Learn More"/>
          </p:cNvPr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hlinkClick r:id="rId3" tooltip="Learn More"/>
          </p:cNvPr>
          <p:cNvSpPr txBox="1">
            <a:spLocks/>
          </p:cNvSpPr>
          <p:nvPr/>
        </p:nvSpPr>
        <p:spPr>
          <a:xfrm>
            <a:off x="2897188" y="5844663"/>
            <a:ext cx="8659850" cy="9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 dirty="0">
              <a:solidFill>
                <a:srgbClr val="DD462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D24726">
                    <a:alpha val="37000"/>
                  </a:srgbClr>
                </a:solidFill>
              </a:rPr>
              <a:t>(Click the arrow when in Slide Show mode)</a:t>
            </a:r>
          </a:p>
          <a:p>
            <a:endParaRPr lang="en-US" sz="1200" dirty="0">
              <a:solidFill>
                <a:srgbClr val="D24726">
                  <a:alpha val="37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403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75" y="2402238"/>
            <a:ext cx="5048742" cy="2187227"/>
          </a:xfrm>
        </p:spPr>
        <p:txBody>
          <a:bodyPr/>
          <a:lstStyle/>
          <a:p>
            <a:r>
              <a:rPr lang="en-US" sz="4000" dirty="0"/>
              <a:t>Summary</a:t>
            </a:r>
          </a:p>
        </p:txBody>
      </p:sp>
      <p:sp>
        <p:nvSpPr>
          <p:cNvPr id="8" name="Freeform 7">
            <a:hlinkClick r:id="rId3" tooltip="Learn More"/>
          </p:cNvPr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hlinkClick r:id="rId3" tooltip="Learn More"/>
          </p:cNvPr>
          <p:cNvSpPr txBox="1">
            <a:spLocks/>
          </p:cNvSpPr>
          <p:nvPr/>
        </p:nvSpPr>
        <p:spPr>
          <a:xfrm>
            <a:off x="2897188" y="5844663"/>
            <a:ext cx="8659850" cy="9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 dirty="0">
              <a:solidFill>
                <a:srgbClr val="DD462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D24726">
                    <a:alpha val="37000"/>
                  </a:srgbClr>
                </a:solidFill>
              </a:rPr>
              <a:t>(Click the arrow when in Slide Show mode)</a:t>
            </a:r>
          </a:p>
          <a:p>
            <a:endParaRPr lang="en-US" sz="1200" dirty="0">
              <a:solidFill>
                <a:srgbClr val="D24726">
                  <a:alpha val="37000"/>
                </a:srgbClr>
              </a:solidFill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27738" y="1972183"/>
            <a:ext cx="572031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Connecting MySQL is simple with Workbench GUI or SQL command 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 steps: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client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credentials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156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75" y="2402238"/>
            <a:ext cx="5048742" cy="2187227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4000" dirty="0"/>
              <a:t>References</a:t>
            </a:r>
          </a:p>
        </p:txBody>
      </p:sp>
      <p:sp>
        <p:nvSpPr>
          <p:cNvPr id="8" name="Freeform 7">
            <a:hlinkClick r:id="rId3" tooltip="Learn More"/>
          </p:cNvPr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hlinkClick r:id="rId3" tooltip="Learn More"/>
          </p:cNvPr>
          <p:cNvSpPr txBox="1">
            <a:spLocks/>
          </p:cNvSpPr>
          <p:nvPr/>
        </p:nvSpPr>
        <p:spPr>
          <a:xfrm>
            <a:off x="2897188" y="5844663"/>
            <a:ext cx="8659850" cy="9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 dirty="0">
              <a:solidFill>
                <a:srgbClr val="DD462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D24726">
                    <a:alpha val="37000"/>
                  </a:srgbClr>
                </a:solidFill>
              </a:rPr>
              <a:t>(Click the arrow when in Slide Show mode)</a:t>
            </a:r>
          </a:p>
          <a:p>
            <a:endParaRPr lang="en-US" sz="1200" dirty="0">
              <a:solidFill>
                <a:srgbClr val="D24726">
                  <a:alpha val="37000"/>
                </a:srgbClr>
              </a:solidFill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05061" y="2526180"/>
            <a:ext cx="648693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Official Documentation: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https://dev.mysql.com/doc/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Workbench User Guide: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https://dev.mysql.com/doc/workbench/en/</a:t>
            </a:r>
          </a:p>
        </p:txBody>
      </p:sp>
    </p:spTree>
    <p:extLst>
      <p:ext uri="{BB962C8B-B14F-4D97-AF65-F5344CB8AC3E}">
        <p14:creationId xmlns:p14="http://schemas.microsoft.com/office/powerpoint/2010/main" val="24771937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Props1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0C04F-E7AC-41AB-9C6D-1B1BB88BFF7F}">
  <ds:schemaRefs>
    <ds:schemaRef ds:uri="http://purl.org/dc/elements/1.1/"/>
    <ds:schemaRef ds:uri="http://schemas.microsoft.com/office/2006/metadata/properties"/>
    <ds:schemaRef ds:uri="4873beb7-5857-4685-be1f-d57550cc96c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109</TotalTime>
  <Words>501</Words>
  <Application>Microsoft Office PowerPoint</Application>
  <PresentationFormat>Widescreen</PresentationFormat>
  <Paragraphs>79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Segoe UI</vt:lpstr>
      <vt:lpstr>Segoe UI Light</vt:lpstr>
      <vt:lpstr>WelcomeDoc</vt:lpstr>
      <vt:lpstr> How to Connect to MYSQL Database using MYSQL WORKBENCH.   Name: Lilian Eberechukwu Kalu Cheche </vt:lpstr>
      <vt:lpstr>INTRODUCTION</vt:lpstr>
      <vt:lpstr>PREREQUISITES</vt:lpstr>
      <vt:lpstr>Steps to Connect MySQL Database (Using MySQL Workbench</vt:lpstr>
      <vt:lpstr> Connecting Using SQL Command Line</vt:lpstr>
      <vt:lpstr> Selecting a Database</vt:lpstr>
      <vt:lpstr>Common Issues</vt:lpstr>
      <vt:lpstr>Demo </vt:lpstr>
      <vt:lpstr>Summary</vt:lpstr>
      <vt:lpstr> 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Connect to MYSQL Database using MYSQL WORKBENCH.   Name: Lilian Eberechukwu Kalu Cheche</dc:title>
  <dc:creator>Microsoft account</dc:creator>
  <cp:keywords/>
  <cp:lastModifiedBy>Microsoft account</cp:lastModifiedBy>
  <cp:revision>8</cp:revision>
  <dcterms:created xsi:type="dcterms:W3CDTF">2026-01-17T09:30:42Z</dcterms:created>
  <dcterms:modified xsi:type="dcterms:W3CDTF">2026-01-23T16:44:52Z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